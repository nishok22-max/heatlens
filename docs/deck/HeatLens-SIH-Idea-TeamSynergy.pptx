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ishok22-max.github.io/HeatLens/" TargetMode="External"/><Relationship Id="rId4" Type="http://schemas.openxmlformats.org/officeDocument/2006/relationships/hyperlink" Target="https://github.com/nishok22-max/Heatblast_wave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AppData/Local/Temp/claude/C--Users-HP-sih-heat/387fbb7b-f903-4a9c-b9ef-c2f692b97488/scratchpad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0040"/>
            <a:ext cx="2743200" cy="11795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00400" y="320040"/>
            <a:ext cx="118872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5400" dirty="0"/>
          </a:p>
        </p:txBody>
      </p:sp>
      <p:pic>
        <p:nvPicPr>
          <p:cNvPr id="4" name="Image 1" descr="C:/Users/HP/AppData/Local/Temp/claude/C--Users-HP-sih-heat/387fbb7b-f903-4a9c-b9ef-c2f692b97488/scratchpad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554480"/>
            <a:ext cx="6949440" cy="7726680"/>
          </a:xfrm>
          <a:prstGeom prst="rect">
            <a:avLst/>
          </a:prstGeom>
        </p:spPr>
      </p:pic>
      <p:pic>
        <p:nvPicPr>
          <p:cNvPr id="5" name="Image 2" descr="C:/Users/HP/AppData/Local/Temp/claude/C--Users-HP-sih-heat/387fbb7b-f903-4a9c-b9ef-c2f692b97488/scratchpad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3063240"/>
            <a:ext cx="4023360" cy="459943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914400" y="2103120"/>
            <a:ext cx="11521440" cy="713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pPr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26083</a:t>
            </a:r>
            <a:endParaRPr lang="en-US" sz="3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– </a:t>
            </a:r>
            <a:pPr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Heatwave Early Warning and Human Thermal Stress Index</a:t>
            </a:r>
            <a:endParaRPr lang="en-US" sz="3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</a:t>
            </a:r>
            <a:pPr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Management</a:t>
            </a:r>
            <a:endParaRPr lang="en-US" sz="3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– </a:t>
            </a:r>
            <a:pPr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3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– </a:t>
            </a:r>
            <a:pPr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90043</a:t>
            </a:r>
            <a:endParaRPr lang="en-US" sz="3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– </a:t>
            </a:r>
            <a:pPr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SYNERGY2025</a:t>
            </a:r>
            <a:endParaRPr lang="en-US" sz="3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– </a:t>
            </a:r>
            <a:pPr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HeatLens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AppData/Local/Temp/claude/C--Users-HP-sih-heat/387fbb7b-f903-4a9c-b9ef-c2f692b97488/scratchpad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2651760" cy="1143000"/>
          </a:xfrm>
          <a:prstGeom prst="rect">
            <a:avLst/>
          </a:prstGeom>
        </p:spPr>
      </p:pic>
      <p:pic>
        <p:nvPicPr>
          <p:cNvPr id="3" name="Image 1" descr="C:/Users/HP/AppData/Local/Temp/claude/C--Users-HP-sih-heat/387fbb7b-f903-4a9c-b9ef-c2f692b97488/scratchpad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440" y="201168"/>
            <a:ext cx="1042416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002000" y="2011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9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320040"/>
            <a:ext cx="1152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HeatLens: Neighbourhood Heat Warnings</a:t>
            </a:r>
            <a:endParaRPr lang="en-US" sz="4000" dirty="0"/>
          </a:p>
        </p:txBody>
      </p:sp>
      <p:sp>
        <p:nvSpPr>
          <p:cNvPr id="6" name="Shape 2"/>
          <p:cNvSpPr/>
          <p:nvPr/>
        </p:nvSpPr>
        <p:spPr>
          <a:xfrm>
            <a:off x="457200" y="1645920"/>
            <a:ext cx="813816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64592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377440"/>
            <a:ext cx="8138160" cy="23317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official heatwave call is based on maximum air temperature and issued for a whole district.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temperature alone cannot tell dry 40 °C from humid 40 °C, and says nothing about hot nights.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Ahmedabad, May 2010: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1,344 excess deaths in a single heatwave [1].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457200" y="4846320"/>
            <a:ext cx="813816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484632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5577840"/>
            <a:ext cx="8138160" cy="39319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city into small zones – 392 zones of 0.7 km² in Ahmedabad.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hour, compute three heat-stress indices (WBGT, UTCI, Heat Index) from temperature, humidity, wind and sunlight.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them into safe outdoor-work minutes per worker type, a colour-coded map and advisories in English, Hindi and Gujarati – 6 days ahead, even offline.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9144000" y="1645920"/>
            <a:ext cx="868680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144000" y="1645920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2377440"/>
          <a:ext cx="8686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657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Today's heatwave warning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HeatLens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Based 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Maximum air temperature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WBGT + UTCI + Heat Index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 district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 km² zone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 nights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part of the criteria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 recovery tracked per zone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Warning colour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work minutes + advisory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" name="Image 2" descr="C:/Users/HP/sih-heat/docs/deck/img/v_hex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4937760"/>
            <a:ext cx="6446520" cy="3749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144000" y="87965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output for 21 May 2010, 14:30 IST: “feels-like” heat (UTCI) differs by 3.88 °C across one city at the same moment.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0" y="9692640"/>
            <a:ext cx="18288000" cy="5943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572000" y="9692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7007840" y="9692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AppData/Local/Temp/claude/C--Users-HP-sih-heat/387fbb7b-f903-4a9c-b9ef-c2f692b97488/scratchpad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2651760" cy="1143000"/>
          </a:xfrm>
          <a:prstGeom prst="rect">
            <a:avLst/>
          </a:prstGeom>
        </p:spPr>
      </p:pic>
      <p:pic>
        <p:nvPicPr>
          <p:cNvPr id="3" name="Image 1" descr="C:/Users/HP/AppData/Local/Temp/claude/C--Users-HP-sih-heat/387fbb7b-f903-4a9c-b9ef-c2f692b97488/scratchpad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440" y="201168"/>
            <a:ext cx="1042416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002000" y="2011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9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320040"/>
            <a:ext cx="1152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4000" dirty="0"/>
          </a:p>
        </p:txBody>
      </p:sp>
      <p:sp>
        <p:nvSpPr>
          <p:cNvPr id="6" name="Shape 2"/>
          <p:cNvSpPr/>
          <p:nvPr/>
        </p:nvSpPr>
        <p:spPr>
          <a:xfrm>
            <a:off x="457200" y="1645920"/>
            <a:ext cx="1627632" cy="2468880"/>
          </a:xfrm>
          <a:prstGeom prst="roundRect">
            <a:avLst>
              <a:gd name="adj" fmla="val 6742"/>
            </a:avLst>
          </a:prstGeom>
          <a:solidFill>
            <a:srgbClr val="EAF2FA"/>
          </a:solidFill>
          <a:ln w="15875">
            <a:solidFill>
              <a:srgbClr val="9DB7CF"/>
            </a:solidFill>
            <a:prstDash val="solid"/>
          </a:ln>
        </p:spPr>
      </p:sp>
      <p:pic>
        <p:nvPicPr>
          <p:cNvPr id="7" name="Image 2" descr="C:/Users/HP/sih-heat/docs/deck/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828800"/>
            <a:ext cx="640080" cy="6400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30352" y="256032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+ city map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530352" y="3246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Open-Meteo, OpenStreetMap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2112264" y="2880360"/>
            <a:ext cx="219456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6"/>
          <p:cNvSpPr/>
          <p:nvPr/>
        </p:nvSpPr>
        <p:spPr>
          <a:xfrm>
            <a:off x="2359152" y="1645920"/>
            <a:ext cx="1627632" cy="24688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875">
            <a:solidFill>
              <a:srgbClr val="9DB7CF"/>
            </a:solidFill>
            <a:prstDash val="solid"/>
          </a:ln>
        </p:spPr>
      </p:sp>
      <p:pic>
        <p:nvPicPr>
          <p:cNvPr id="12" name="Image 3" descr="C:/Users/HP/sih-heat/docs/deck/icons/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828800"/>
            <a:ext cx="640080" cy="6400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432304" y="256032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Split into zones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2432304" y="3246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392 H3 cells, 0.7 km² each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4014216" y="2880360"/>
            <a:ext cx="219456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6" name="Shape 10"/>
          <p:cNvSpPr/>
          <p:nvPr/>
        </p:nvSpPr>
        <p:spPr>
          <a:xfrm>
            <a:off x="4261104" y="1645920"/>
            <a:ext cx="1627632" cy="24688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875">
            <a:solidFill>
              <a:srgbClr val="9DB7CF"/>
            </a:solidFill>
            <a:prstDash val="solid"/>
          </a:ln>
        </p:spPr>
      </p:sp>
      <p:pic>
        <p:nvPicPr>
          <p:cNvPr id="17" name="Image 4" descr="C:/Users/HP/sih-heat/docs/deck/icons/thermome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828800"/>
            <a:ext cx="640080" cy="6400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334256" y="256032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Heat on the body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4334256" y="3246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WBGT · UTCI · Heat Index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5916168" y="2880360"/>
            <a:ext cx="219456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1" name="Shape 14"/>
          <p:cNvSpPr/>
          <p:nvPr/>
        </p:nvSpPr>
        <p:spPr>
          <a:xfrm>
            <a:off x="6163056" y="1645920"/>
            <a:ext cx="1627632" cy="24688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875">
            <a:solidFill>
              <a:srgbClr val="9DB7CF"/>
            </a:solidFill>
            <a:prstDash val="solid"/>
          </a:ln>
        </p:spPr>
      </p:sp>
      <p:pic>
        <p:nvPicPr>
          <p:cNvPr id="22" name="Image 5" descr="C:/Users/HP/sih-heat/docs/deck/icons/c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1828800"/>
            <a:ext cx="640080" cy="6400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236208" y="256032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Safe work minutes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6236208" y="3246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7243 + ACGIH tables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7818120" y="2880360"/>
            <a:ext cx="219456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6" name="Shape 18"/>
          <p:cNvSpPr/>
          <p:nvPr/>
        </p:nvSpPr>
        <p:spPr>
          <a:xfrm>
            <a:off x="8065008" y="1645920"/>
            <a:ext cx="1627632" cy="24688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875">
            <a:solidFill>
              <a:srgbClr val="9DB7CF"/>
            </a:solidFill>
            <a:prstDash val="solid"/>
          </a:ln>
        </p:spPr>
      </p:sp>
      <p:pic>
        <p:nvPicPr>
          <p:cNvPr id="27" name="Image 6" descr="C:/Users/HP/sih-heat/docs/deck/icons/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8784" y="1828800"/>
            <a:ext cx="640080" cy="64008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138160" y="256032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Relative risk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8138160" y="3246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× exposure × vulnerability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9720072" y="2880360"/>
            <a:ext cx="219456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31" name="Shape 22"/>
          <p:cNvSpPr/>
          <p:nvPr/>
        </p:nvSpPr>
        <p:spPr>
          <a:xfrm>
            <a:off x="9966960" y="1645920"/>
            <a:ext cx="1627632" cy="24688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875">
            <a:solidFill>
              <a:srgbClr val="9DB7CF"/>
            </a:solidFill>
            <a:prstDash val="solid"/>
          </a:ln>
        </p:spPr>
      </p:sp>
      <p:pic>
        <p:nvPicPr>
          <p:cNvPr id="32" name="Image 7" descr="C:/Users/HP/sih-heat/docs/deck/icons/deskto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0736" y="1828800"/>
            <a:ext cx="640080" cy="64008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040112" y="256032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Map + alert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10040112" y="3246120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HTML file, CAP 1.2 alert</a:t>
            </a:r>
            <a:endParaRPr lang="en-US" sz="1350" dirty="0"/>
          </a:p>
        </p:txBody>
      </p:sp>
      <p:sp>
        <p:nvSpPr>
          <p:cNvPr id="35" name="Text 25"/>
          <p:cNvSpPr txBox="1"/>
          <p:nvPr/>
        </p:nvSpPr>
        <p:spPr>
          <a:xfrm>
            <a:off x="457200" y="4343400"/>
            <a:ext cx="11338560" cy="16002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is fetched hourly, 6 days ahead; the published copy refreshes automatically every 6 hours.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is one self-contained HTML file – it opens from a USB stick with no internet.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numbers are served by a read-only FastAPI backend for other government systems.</a:t>
            </a:r>
            <a:endParaRPr lang="en-US" sz="1800" dirty="0"/>
          </a:p>
        </p:txBody>
      </p:sp>
      <p:sp>
        <p:nvSpPr>
          <p:cNvPr id="36" name="Shape 26"/>
          <p:cNvSpPr/>
          <p:nvPr/>
        </p:nvSpPr>
        <p:spPr>
          <a:xfrm>
            <a:off x="457200" y="5989320"/>
            <a:ext cx="1133856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457200" y="5989320"/>
            <a:ext cx="11338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2600" dirty="0"/>
          </a:p>
        </p:txBody>
      </p:sp>
      <p:pic>
        <p:nvPicPr>
          <p:cNvPr id="38" name="Image 8" descr="C:/Users/HP/sih-heat/docs/deck/img/v_prot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6720840"/>
            <a:ext cx="5852160" cy="282549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675120" y="6675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 tests pass</a:t>
            </a:r>
            <a:endParaRPr lang="en-US" sz="4000" dirty="0"/>
          </a:p>
        </p:txBody>
      </p:sp>
      <p:sp>
        <p:nvSpPr>
          <p:cNvPr id="40" name="Text 29"/>
          <p:cNvSpPr txBox="1"/>
          <p:nvPr/>
        </p:nvSpPr>
        <p:spPr>
          <a:xfrm>
            <a:off x="6675120" y="73883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 checked against published reference values</a:t>
            </a:r>
            <a:endParaRPr lang="en-US" sz="1500" dirty="0"/>
          </a:p>
        </p:txBody>
      </p:sp>
      <p:sp>
        <p:nvSpPr>
          <p:cNvPr id="41" name="Text 30"/>
          <p:cNvSpPr txBox="1"/>
          <p:nvPr/>
        </p:nvSpPr>
        <p:spPr>
          <a:xfrm>
            <a:off x="6675120" y="80467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 °C</a:t>
            </a:r>
            <a:endParaRPr lang="en-US" sz="4000" dirty="0"/>
          </a:p>
        </p:txBody>
      </p:sp>
      <p:sp>
        <p:nvSpPr>
          <p:cNvPr id="42" name="Text 31"/>
          <p:cNvSpPr txBox="1"/>
          <p:nvPr/>
        </p:nvSpPr>
        <p:spPr>
          <a:xfrm>
            <a:off x="6675120" y="87599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with ECMWF's thermofeel library (radiant temperature)</a:t>
            </a:r>
            <a:endParaRPr lang="en-US" sz="1500" dirty="0"/>
          </a:p>
        </p:txBody>
      </p:sp>
      <p:sp>
        <p:nvSpPr>
          <p:cNvPr id="43" name="Shape 32"/>
          <p:cNvSpPr/>
          <p:nvPr/>
        </p:nvSpPr>
        <p:spPr>
          <a:xfrm>
            <a:off x="12252960" y="1645920"/>
            <a:ext cx="557784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12252960" y="164592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5" name="Shape 34"/>
          <p:cNvSpPr/>
          <p:nvPr/>
        </p:nvSpPr>
        <p:spPr>
          <a:xfrm>
            <a:off x="12527280" y="2423160"/>
            <a:ext cx="5029200" cy="1188720"/>
          </a:xfrm>
          <a:prstGeom prst="roundRect">
            <a:avLst>
              <a:gd name="adj" fmla="val 11538"/>
            </a:avLst>
          </a:prstGeom>
          <a:solidFill>
            <a:srgbClr val="FFF4B8"/>
          </a:solidFill>
          <a:ln w="19050">
            <a:solidFill>
              <a:srgbClr val="C9A800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12618720" y="2423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weather · OpenStreetMap</a:t>
            </a:r>
            <a:endParaRPr lang="en-US" sz="1800" dirty="0"/>
          </a:p>
        </p:txBody>
      </p:sp>
      <p:sp>
        <p:nvSpPr>
          <p:cNvPr id="47" name="Shape 36"/>
          <p:cNvSpPr/>
          <p:nvPr/>
        </p:nvSpPr>
        <p:spPr>
          <a:xfrm>
            <a:off x="15041880" y="3630168"/>
            <a:ext cx="0" cy="192024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  <a:tailEnd type="triangle"/>
          </a:ln>
        </p:spPr>
      </p:sp>
      <p:sp>
        <p:nvSpPr>
          <p:cNvPr id="48" name="Shape 37"/>
          <p:cNvSpPr/>
          <p:nvPr/>
        </p:nvSpPr>
        <p:spPr>
          <a:xfrm>
            <a:off x="12527280" y="3840480"/>
            <a:ext cx="5029200" cy="1188720"/>
          </a:xfrm>
          <a:prstGeom prst="roundRect">
            <a:avLst>
              <a:gd name="adj" fmla="val 11538"/>
            </a:avLst>
          </a:prstGeom>
          <a:solidFill>
            <a:srgbClr val="D6E8FA"/>
          </a:solidFill>
          <a:ln w="19050">
            <a:solidFill>
              <a:srgbClr val="5B8FC7"/>
            </a:solidFill>
            <a:prstDash val="solid"/>
          </a:ln>
        </p:spPr>
      </p:sp>
      <p:sp>
        <p:nvSpPr>
          <p:cNvPr id="49" name="Text 38"/>
          <p:cNvSpPr txBox="1"/>
          <p:nvPr/>
        </p:nvSpPr>
        <p:spPr>
          <a:xfrm>
            <a:off x="12618720" y="38404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· NumPy · thermofeel · h3</a:t>
            </a:r>
            <a:endParaRPr lang="en-US" sz="1800" dirty="0"/>
          </a:p>
        </p:txBody>
      </p:sp>
      <p:sp>
        <p:nvSpPr>
          <p:cNvPr id="50" name="Shape 39"/>
          <p:cNvSpPr/>
          <p:nvPr/>
        </p:nvSpPr>
        <p:spPr>
          <a:xfrm>
            <a:off x="15041880" y="5047488"/>
            <a:ext cx="0" cy="192024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  <a:tailEnd type="triangle"/>
          </a:ln>
        </p:spPr>
      </p:sp>
      <p:sp>
        <p:nvSpPr>
          <p:cNvPr id="51" name="Shape 40"/>
          <p:cNvSpPr/>
          <p:nvPr/>
        </p:nvSpPr>
        <p:spPr>
          <a:xfrm>
            <a:off x="12527280" y="5257800"/>
            <a:ext cx="5029200" cy="1188720"/>
          </a:xfrm>
          <a:prstGeom prst="roundRect">
            <a:avLst>
              <a:gd name="adj" fmla="val 11538"/>
            </a:avLst>
          </a:prstGeom>
          <a:solidFill>
            <a:srgbClr val="FBD9EA"/>
          </a:solidFill>
          <a:ln w="19050">
            <a:solidFill>
              <a:srgbClr val="C06A98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12618720" y="5257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(read-only API)</a:t>
            </a:r>
            <a:endParaRPr lang="en-US" sz="1800" dirty="0"/>
          </a:p>
        </p:txBody>
      </p:sp>
      <p:sp>
        <p:nvSpPr>
          <p:cNvPr id="53" name="Shape 42"/>
          <p:cNvSpPr/>
          <p:nvPr/>
        </p:nvSpPr>
        <p:spPr>
          <a:xfrm>
            <a:off x="15041880" y="6464808"/>
            <a:ext cx="0" cy="192024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  <a:tailEnd type="triangle"/>
          </a:ln>
        </p:spPr>
      </p:sp>
      <p:sp>
        <p:nvSpPr>
          <p:cNvPr id="54" name="Shape 43"/>
          <p:cNvSpPr/>
          <p:nvPr/>
        </p:nvSpPr>
        <p:spPr>
          <a:xfrm>
            <a:off x="12527280" y="6675120"/>
            <a:ext cx="5029200" cy="1188720"/>
          </a:xfrm>
          <a:prstGeom prst="roundRect">
            <a:avLst>
              <a:gd name="adj" fmla="val 11538"/>
            </a:avLst>
          </a:prstGeom>
          <a:solidFill>
            <a:srgbClr val="CFF1F4"/>
          </a:solidFill>
          <a:ln w="19050">
            <a:solidFill>
              <a:srgbClr val="3FA8B3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12618720" y="6675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+ Vite</a:t>
            </a:r>
            <a:endParaRPr lang="en-US" sz="1800" dirty="0"/>
          </a:p>
        </p:txBody>
      </p:sp>
      <p:sp>
        <p:nvSpPr>
          <p:cNvPr id="56" name="Shape 45"/>
          <p:cNvSpPr/>
          <p:nvPr/>
        </p:nvSpPr>
        <p:spPr>
          <a:xfrm>
            <a:off x="15041880" y="7882128"/>
            <a:ext cx="0" cy="192024"/>
          </a:xfrm>
          <a:prstGeom prst="line">
            <a:avLst/>
          </a:prstGeom>
          <a:noFill/>
          <a:ln w="12700">
            <a:solidFill>
              <a:srgbClr val="555555"/>
            </a:solidFill>
            <a:prstDash val="dash"/>
            <a:tailEnd type="triangle"/>
          </a:ln>
        </p:spPr>
      </p:sp>
      <p:sp>
        <p:nvSpPr>
          <p:cNvPr id="57" name="Shape 46"/>
          <p:cNvSpPr/>
          <p:nvPr/>
        </p:nvSpPr>
        <p:spPr>
          <a:xfrm>
            <a:off x="12527280" y="8092440"/>
            <a:ext cx="5029200" cy="1188720"/>
          </a:xfrm>
          <a:prstGeom prst="roundRect">
            <a:avLst>
              <a:gd name="adj" fmla="val 11538"/>
            </a:avLst>
          </a:prstGeom>
          <a:solidFill>
            <a:srgbClr val="DCEFD8"/>
          </a:solidFill>
          <a:ln w="19050">
            <a:solidFill>
              <a:srgbClr val="5E9E55"/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12618720" y="8092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files – no database needed</a:t>
            </a:r>
            <a:endParaRPr lang="en-US" sz="1800" dirty="0"/>
          </a:p>
        </p:txBody>
      </p:sp>
      <p:sp>
        <p:nvSpPr>
          <p:cNvPr id="59" name="Shape 48"/>
          <p:cNvSpPr/>
          <p:nvPr/>
        </p:nvSpPr>
        <p:spPr>
          <a:xfrm>
            <a:off x="0" y="9692640"/>
            <a:ext cx="18288000" cy="5943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4572000" y="9692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800" dirty="0"/>
          </a:p>
        </p:txBody>
      </p:sp>
      <p:sp>
        <p:nvSpPr>
          <p:cNvPr id="61" name="Text 50"/>
          <p:cNvSpPr txBox="1"/>
          <p:nvPr/>
        </p:nvSpPr>
        <p:spPr>
          <a:xfrm>
            <a:off x="17007840" y="9692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AppData/Local/Temp/claude/C--Users-HP-sih-heat/387fbb7b-f903-4a9c-b9ef-c2f692b97488/scratchpad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2651760" cy="1143000"/>
          </a:xfrm>
          <a:prstGeom prst="rect">
            <a:avLst/>
          </a:prstGeom>
        </p:spPr>
      </p:pic>
      <p:pic>
        <p:nvPicPr>
          <p:cNvPr id="3" name="Image 1" descr="C:/Users/HP/AppData/Local/Temp/claude/C--Users-HP-sih-heat/387fbb7b-f903-4a9c-b9ef-c2f692b97488/scratchpad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440" y="201168"/>
            <a:ext cx="1042416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002000" y="2011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9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320040"/>
            <a:ext cx="1152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4000" dirty="0"/>
          </a:p>
        </p:txBody>
      </p:sp>
      <p:sp>
        <p:nvSpPr>
          <p:cNvPr id="6" name="Shape 2"/>
          <p:cNvSpPr/>
          <p:nvPr/>
        </p:nvSpPr>
        <p:spPr>
          <a:xfrm>
            <a:off x="457200" y="1645920"/>
            <a:ext cx="841248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645920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377440"/>
            <a:ext cx="8412480" cy="26060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pipeline is already built and runs on an ordinary laptop.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formulas are checked against the NOAA Heat Index chart and ISO 7243 limits in 208 automated tests.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building the map, we set a pass mark: zones must differ by at least 3 °C UTCI. Measured: 3.88 °C.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9418320" y="1645920"/>
            <a:ext cx="841248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418320" y="1645920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Viability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9418320" y="2377440"/>
            <a:ext cx="8412480" cy="26060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are public: Open-Meteo weather and OpenStreetMap.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needs no server; a city deployment needs one small server for the API.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city is one config file (area and dates) – no retraining.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is free for non-commercial use; a government roll-out would use its paid plan or IMD data.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457200" y="5120640"/>
            <a:ext cx="1737360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5120640"/>
            <a:ext cx="1737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and How We Handle Them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1737360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1521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approach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local death or hospital records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is shown as relative only and labelled “not calibrated”; a calibrate() hook is ready for IHIP / hospital data.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hotter built-up areas are is assumed (3 °C, from literature)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 2–5 °C: spread stays above 3 °C from 3 °C upward, drops to 2.57 °C at 2 °C. Next: measure it with Landsat surface temperature.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Hindi and Gujarati advisories are machine-drafted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Native-speaker review before any public release.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test alert could be mistaken for a real one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Alerts are marked “Exercise”; sending stays off until the city's alert owner approves.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0" y="9692640"/>
            <a:ext cx="18288000" cy="5943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0" y="9692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007840" y="9692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AppData/Local/Temp/claude/C--Users-HP-sih-heat/387fbb7b-f903-4a9c-b9ef-c2f692b97488/scratchpad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2651760" cy="1143000"/>
          </a:xfrm>
          <a:prstGeom prst="rect">
            <a:avLst/>
          </a:prstGeom>
        </p:spPr>
      </p:pic>
      <p:pic>
        <p:nvPicPr>
          <p:cNvPr id="3" name="Image 1" descr="C:/Users/HP/AppData/Local/Temp/claude/C--Users-HP-sih-heat/387fbb7b-f903-4a9c-b9ef-c2f692b97488/scratchpad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440" y="201168"/>
            <a:ext cx="1042416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002000" y="2011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9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320040"/>
            <a:ext cx="1152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4000" dirty="0"/>
          </a:p>
        </p:txBody>
      </p:sp>
      <p:sp>
        <p:nvSpPr>
          <p:cNvPr id="6" name="Shape 2"/>
          <p:cNvSpPr/>
          <p:nvPr/>
        </p:nvSpPr>
        <p:spPr>
          <a:xfrm>
            <a:off x="457200" y="1645920"/>
            <a:ext cx="841248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645920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Stakeholders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9" name="Image 2" descr="C:/Users/HP/sih-heat/docs/deck/icons/buil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060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63040" y="2395728"/>
            <a:ext cx="7406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Commissioner –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ranked by heat risk, days ahead, to send water tankers and open cooling centres first.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548640" y="3401568"/>
            <a:ext cx="731520" cy="73152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12" name="Image 3" descr="C:/Users/HP/sih-heat/docs/deck/icons/stethosc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38728"/>
            <a:ext cx="457200" cy="4572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63040" y="3328416"/>
            <a:ext cx="7406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Officer –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zones and hours to plan staff and ORS stock for.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548640" y="4334256"/>
            <a:ext cx="731520" cy="73152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15" name="Image 4" descr="C:/Users/HP/sih-heat/docs/deck/icons/helm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471416"/>
            <a:ext cx="457200" cy="4572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63040" y="4261104"/>
            <a:ext cx="7406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Labour Department –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outdoor-work minutes, hour by hour, to shift working hours.</a:t>
            </a:r>
            <a:endParaRPr lang="en-US" sz="1800" dirty="0"/>
          </a:p>
        </p:txBody>
      </p:sp>
      <p:sp>
        <p:nvSpPr>
          <p:cNvPr id="17" name="Shape 10"/>
          <p:cNvSpPr/>
          <p:nvPr/>
        </p:nvSpPr>
        <p:spPr>
          <a:xfrm>
            <a:off x="548640" y="5266944"/>
            <a:ext cx="731520" cy="731520"/>
          </a:xfrm>
          <a:prstGeom prst="ellipse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pic>
        <p:nvPicPr>
          <p:cNvPr id="18" name="Image 5" descr="C:/Users/HP/sih-heat/docs/deck/icons/pers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404104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463040" y="5193792"/>
            <a:ext cx="7406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Workers and Elderly –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advisories in English, Hindi and Gujarati.</a:t>
            </a:r>
            <a:endParaRPr lang="en-US" sz="1800" dirty="0"/>
          </a:p>
        </p:txBody>
      </p:sp>
      <p:sp>
        <p:nvSpPr>
          <p:cNvPr id="20" name="Shape 12"/>
          <p:cNvSpPr/>
          <p:nvPr/>
        </p:nvSpPr>
        <p:spPr>
          <a:xfrm>
            <a:off x="9418320" y="1645920"/>
            <a:ext cx="841248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9418320" y="1645920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Already Shows</a:t>
            </a:r>
            <a:endParaRPr lang="en-US" sz="2600" dirty="0"/>
          </a:p>
        </p:txBody>
      </p:sp>
      <p:pic>
        <p:nvPicPr>
          <p:cNvPr id="22" name="Image 6" descr="C:/Users/HP/sih-heat/docs/deck/img/v_night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0" y="2377440"/>
            <a:ext cx="7589520" cy="338328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418320" y="5806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Ahmedabad, May 2010: 7 nights in a row stayed above 27 °C. A warning based on the daytime maximum misses this.</a:t>
            </a:r>
            <a:endParaRPr lang="en-US" sz="1500" dirty="0"/>
          </a:p>
        </p:txBody>
      </p:sp>
      <p:pic>
        <p:nvPicPr>
          <p:cNvPr id="24" name="Image 7" descr="C:/Users/HP/sih-heat/docs/deck/img/v_worksafety_today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6583680"/>
            <a:ext cx="10789920" cy="292608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11795760" y="6492240"/>
            <a:ext cx="6035040" cy="5303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11795760" y="649224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2600" dirty="0"/>
          </a:p>
        </p:txBody>
      </p:sp>
      <p:sp>
        <p:nvSpPr>
          <p:cNvPr id="27" name="Text 17"/>
          <p:cNvSpPr txBox="1"/>
          <p:nvPr/>
        </p:nvSpPr>
        <p:spPr>
          <a:xfrm>
            <a:off x="11795760" y="7086600"/>
            <a:ext cx="6035040" cy="25146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goes to the zones and hours that need 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is shifted, not stopped – 13.5 h/day stay workable for construction (3 Sep 2026).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measure: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heat-illness cases in pilot zones vs similar zones.</a:t>
            </a:r>
            <a:endParaRPr lang="en-US" sz="1600" dirty="0"/>
          </a:p>
        </p:txBody>
      </p:sp>
      <p:sp>
        <p:nvSpPr>
          <p:cNvPr id="28" name="Shape 18"/>
          <p:cNvSpPr/>
          <p:nvPr/>
        </p:nvSpPr>
        <p:spPr>
          <a:xfrm>
            <a:off x="0" y="9692640"/>
            <a:ext cx="18288000" cy="5943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4572000" y="9692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800" dirty="0"/>
          </a:p>
        </p:txBody>
      </p:sp>
      <p:sp>
        <p:nvSpPr>
          <p:cNvPr id="30" name="Text 20"/>
          <p:cNvSpPr txBox="1"/>
          <p:nvPr/>
        </p:nvSpPr>
        <p:spPr>
          <a:xfrm>
            <a:off x="17007840" y="9692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AppData/Local/Temp/claude/C--Users-HP-sih-heat/387fbb7b-f903-4a9c-b9ef-c2f692b97488/scratchpad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2651760" cy="1143000"/>
          </a:xfrm>
          <a:prstGeom prst="rect">
            <a:avLst/>
          </a:prstGeom>
        </p:spPr>
      </p:pic>
      <p:pic>
        <p:nvPicPr>
          <p:cNvPr id="3" name="Image 1" descr="C:/Users/HP/AppData/Local/Temp/claude/C--Users-HP-sih-heat/387fbb7b-f903-4a9c-b9ef-c2f692b97488/scratchpad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440" y="201168"/>
            <a:ext cx="1042416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002000" y="2011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556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9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320040"/>
            <a:ext cx="11521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737360"/>
            <a:ext cx="10607040" cy="76809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t"/>
          <a:lstStyle/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Azhar G.S. et al. (2014). Heat-related mortality in India: excess all-cause mortality associated with the 2010 Ahmedabad heat wave. PLOS ONE 9(3): e91831.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Hess J.J. et al. (2018). Building resilience to climate change: pilot evaluation of the impact of India's first heat action plan on all-cause mortality. J. Environmental and Public Health.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Liljegren J.C. et al. (2008). Modeling the wet bulb globe temperature using standard meteorological measurements. J. Occupational and Environmental Hygiene 5(10).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Bröde P. et al. (2012). Deriving the operational procedure for the Universal Thermal Climate Index (UTCI). Int. J. Biometeorology 56.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Brimicombe C. et al. (2022). thermofeel: a Python thermal comfort indices library. SoftwareX.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7243:2017 – Ergonomics of the thermal environment: assessment of heat stress using the WBGT index.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Meteorological Department – heatwave criteria (FAQ on heat wave), imd.gov.in.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11704320" y="1737360"/>
            <a:ext cx="612648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704320" y="173736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11795760" y="2468880"/>
            <a:ext cx="59436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900" dirty="0"/>
          </a:p>
          <a:p>
            <a:pPr indent="0" marL="0">
              <a:buNone/>
            </a:pPr>
            <a:r>
              <a:rPr lang="en-US" sz="19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nishok22-max.github.io/HeatLens</a:t>
            </a:r>
            <a:endParaRPr lang="en-US" sz="19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900" dirty="0"/>
          </a:p>
          <a:p>
            <a:pPr indent="0" marL="0">
              <a:buNone/>
            </a:pPr>
            <a:r>
              <a:rPr lang="en-US" sz="19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github.com/nishok22-max/Heatblast_wave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11704320" y="4846320"/>
            <a:ext cx="6126480" cy="6035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704320" y="484632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One Index Is Not Enough</a:t>
            </a:r>
            <a:endParaRPr lang="en-US" sz="2600" dirty="0"/>
          </a:p>
        </p:txBody>
      </p:sp>
      <p:pic>
        <p:nvPicPr>
          <p:cNvPr id="12" name="Image 2" descr="C:/Users/HP/sih-heat/docs/deck/img/v_indic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0" y="5669280"/>
            <a:ext cx="6126480" cy="19110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704320" y="77266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between coolest and hottest zone, same city, same minute. WBGT under-reads dry heat; UTCI shows it.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0" y="9692640"/>
            <a:ext cx="18288000" cy="5943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72000" y="96926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17007840" y="9692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HeatLens – SIH Idea Submission – Team Synergy</dc:title>
  <dc:subject>PptxGenJS Presentation</dc:subject>
  <dc:creator>PptxGenJS</dc:creator>
  <cp:lastModifiedBy>PptxGenJS</cp:lastModifiedBy>
  <cp:revision>1</cp:revision>
  <dcterms:created xsi:type="dcterms:W3CDTF">2026-09-11T08:30:51Z</dcterms:created>
  <dcterms:modified xsi:type="dcterms:W3CDTF">2026-09-11T08:30:51Z</dcterms:modified>
</cp:coreProperties>
</file>